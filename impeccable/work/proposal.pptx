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1"/>
  </p:notes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Montserrat Bold" charset="1" panose="00000800000000000000"/>
      <p:regular r:id="rId14"/>
    </p:embeddedFont>
    <p:embeddedFont>
      <p:font typeface="Open Sans" charset="1" panose="00000000000000000000"/>
      <p:regular r:id="rId15"/>
    </p:embeddedFont>
    <p:embeddedFont>
      <p:font typeface="Open Sans Italics" charset="1" panose="00000000000000000000"/>
      <p:regular r:id="rId17"/>
    </p:embeddedFont>
    <p:embeddedFont>
      <p:font typeface="Open Sans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notesMasters/notesMaster1.xml" Type="http://schemas.openxmlformats.org/officeDocument/2006/relationships/notesMaster"/><Relationship Id="rId12" Target="theme/theme2.xml" Type="http://schemas.openxmlformats.org/officeDocument/2006/relationships/theme"/><Relationship Id="rId13" Target="notesSlides/notesSlide1.xml" Type="http://schemas.openxmlformats.org/officeDocument/2006/relationships/notes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Slides/notesSlide2.xml" Type="http://schemas.openxmlformats.org/officeDocument/2006/relationships/notesSlide"/><Relationship Id="rId17" Target="fonts/font17.fntdata" Type="http://schemas.openxmlformats.org/officeDocument/2006/relationships/font"/><Relationship Id="rId18" Target="notesSlides/notesSlide3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Silhouette of an airliner wing against a navy pre-dawn sky with an orange horizon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305" r="0" b="-930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19124" y="1197242"/>
            <a:ext cx="10791825" cy="39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300">
                <a:solidFill>
                  <a:srgbClr val="F2B3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IS460 MACHINE LEARNING · PROJECT PROPOSAL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124" y="1879128"/>
            <a:ext cx="15647134" cy="224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b="true" sz="5599" spc="-99">
                <a:solidFill>
                  <a:srgbClr val="F8F8F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Predicting Airline Passenger Satisfaction via Deep Tabular Ensembles: Evaluating Synthetic Fidelity and Explainable Drivers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9124" y="8762962"/>
            <a:ext cx="1659084" cy="39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9FAAB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GROUP </a:t>
            </a:r>
            <a:r>
              <a:rPr lang="en-US" b="true" sz="1800" spc="149">
                <a:solidFill>
                  <a:srgbClr val="F2B3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35039" y="8762962"/>
            <a:ext cx="4174312" cy="39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9FAAB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</a:t>
            </a:r>
            <a:r>
              <a:rPr lang="en-US" b="true" sz="1800" spc="149">
                <a:solidFill>
                  <a:srgbClr val="F8F8F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829,515 PASSENGERS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09352" y="8762962"/>
            <a:ext cx="2810637" cy="39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9FAAB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METRIC </a:t>
            </a:r>
            <a:r>
              <a:rPr lang="en-US" b="true" sz="1800" spc="149">
                <a:solidFill>
                  <a:srgbClr val="F8F8F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ROC AUC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84892" y="8762962"/>
            <a:ext cx="3268266" cy="39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9FAAB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MODELS </a:t>
            </a:r>
            <a:r>
              <a:rPr lang="en-US" b="true" sz="1800" spc="149">
                <a:solidFill>
                  <a:srgbClr val="F8F8F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 FAMILIES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9124" y="9328928"/>
            <a:ext cx="16325050" cy="3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9D2DA"/>
                </a:solidFill>
                <a:latin typeface="Open Sans"/>
                <a:ea typeface="Open Sans"/>
                <a:cs typeface="Open Sans"/>
                <a:sym typeface="Open Sans"/>
              </a:rPr>
              <a:t>Chai Yichen · Chetan s/o Haresh Kishnani · Lee Jia Le · Joash Lau Rong Wei · Cody Loo Yee · Tristan Ang Boon Yew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54000" y="0"/>
            <a:ext cx="5334000" cy="10287000"/>
            <a:chOff x="0" y="0"/>
            <a:chExt cx="7112000" cy="13716000"/>
          </a:xfrm>
        </p:grpSpPr>
        <p:sp>
          <p:nvSpPr>
            <p:cNvPr name="Freeform 3" id="3" descr="Passengers seated along the aisle of an economy cabin during a flight"/>
            <p:cNvSpPr/>
            <p:nvPr/>
          </p:nvSpPr>
          <p:spPr>
            <a:xfrm flipH="false" flipV="false" rot="0">
              <a:off x="0" y="0"/>
              <a:ext cx="711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4533" t="0" r="-94533" b="-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0" y="-38100"/>
            <a:ext cx="18836640" cy="39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300">
                <a:solidFill>
                  <a:srgbClr val="B84A1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481841"/>
            <a:ext cx="18836640" cy="744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b="true" sz="5400" spc="-75">
                <a:solidFill>
                  <a:srgbClr val="1320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1455230"/>
            <a:ext cx="12651056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3D4A57"/>
                </a:solidFill>
                <a:latin typeface="Open Sans"/>
                <a:ea typeface="Open Sans"/>
                <a:cs typeface="Open Sans"/>
                <a:sym typeface="Open Sans"/>
              </a:rPr>
              <a:t>A post-flight survey tells an airline who was unhappy after the fact. We predict each passenger's probability of being satisfied, and explain which services drive it.</a:t>
            </a:r>
          </a:p>
        </p:txBody>
      </p:sp>
      <p:sp>
        <p:nvSpPr>
          <p:cNvPr name="AutoShape 7" id="7"/>
          <p:cNvSpPr/>
          <p:nvPr/>
        </p:nvSpPr>
        <p:spPr>
          <a:xfrm>
            <a:off x="-4761" y="3119267"/>
            <a:ext cx="12958761" cy="0"/>
          </a:xfrm>
          <a:prstGeom prst="line">
            <a:avLst/>
          </a:prstGeom>
          <a:ln cap="rnd" w="9525">
            <a:solidFill>
              <a:srgbClr val="DCDCD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0" y="2655332"/>
            <a:ext cx="1504950" cy="41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B84A1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INPUT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7312" y="2655332"/>
            <a:ext cx="17129608" cy="41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3202E"/>
                </a:solidFill>
                <a:latin typeface="Open Sans"/>
                <a:ea typeface="Open Sans"/>
                <a:cs typeface="Open Sans"/>
                <a:sym typeface="Open Sans"/>
              </a:rPr>
              <a:t>21 features [1]: 4 traveller, 4 trip and 13 service-rating fields</a:t>
            </a:r>
          </a:p>
        </p:txBody>
      </p:sp>
      <p:sp>
        <p:nvSpPr>
          <p:cNvPr name="AutoShape 10" id="10"/>
          <p:cNvSpPr/>
          <p:nvPr/>
        </p:nvSpPr>
        <p:spPr>
          <a:xfrm>
            <a:off x="-4761" y="3649905"/>
            <a:ext cx="12958761" cy="0"/>
          </a:xfrm>
          <a:prstGeom prst="line">
            <a:avLst/>
          </a:prstGeom>
          <a:ln cap="rnd" w="9525">
            <a:solidFill>
              <a:srgbClr val="DCDCD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0" y="3185970"/>
            <a:ext cx="1504950" cy="41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B84A1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7312" y="3185970"/>
            <a:ext cx="17129608" cy="41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3202E"/>
                </a:solidFill>
                <a:latin typeface="Open Sans"/>
                <a:ea typeface="Open Sans"/>
                <a:cs typeface="Open Sans"/>
                <a:sym typeface="Open Sans"/>
              </a:rPr>
              <a:t>P(satisfied) for each passenger, plus the services that move it</a:t>
            </a:r>
          </a:p>
        </p:txBody>
      </p:sp>
      <p:sp>
        <p:nvSpPr>
          <p:cNvPr name="AutoShape 13" id="13"/>
          <p:cNvSpPr/>
          <p:nvPr/>
        </p:nvSpPr>
        <p:spPr>
          <a:xfrm>
            <a:off x="-4761" y="4180542"/>
            <a:ext cx="12958761" cy="0"/>
          </a:xfrm>
          <a:prstGeom prst="line">
            <a:avLst/>
          </a:prstGeom>
          <a:ln cap="rnd" w="9525">
            <a:solidFill>
              <a:srgbClr val="DCDCD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0" y="3716607"/>
            <a:ext cx="1504950" cy="41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B84A1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METRIC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7312" y="3716607"/>
            <a:ext cx="17129608" cy="41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3202E"/>
                </a:solidFill>
                <a:latin typeface="Open Sans"/>
                <a:ea typeface="Open Sans"/>
                <a:cs typeface="Open Sans"/>
                <a:sym typeface="Open Sans"/>
              </a:rPr>
              <a:t>ROC AUC: the chance a satisfied passenger is ranked above an unsatisfied one [2]</a:t>
            </a:r>
          </a:p>
        </p:txBody>
      </p:sp>
      <p:sp>
        <p:nvSpPr>
          <p:cNvPr name="AutoShape 16" id="16"/>
          <p:cNvSpPr/>
          <p:nvPr/>
        </p:nvSpPr>
        <p:spPr>
          <a:xfrm>
            <a:off x="-4761" y="4711180"/>
            <a:ext cx="12958761" cy="0"/>
          </a:xfrm>
          <a:prstGeom prst="line">
            <a:avLst/>
          </a:prstGeom>
          <a:ln cap="rnd" w="9525">
            <a:solidFill>
              <a:srgbClr val="DCDCD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0" y="4247245"/>
            <a:ext cx="1504950" cy="41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B84A1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57312" y="4247245"/>
            <a:ext cx="17129608" cy="41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3202E"/>
                </a:solidFill>
                <a:latin typeface="Open Sans"/>
                <a:ea typeface="Open Sans"/>
                <a:cs typeface="Open Sans"/>
                <a:sym typeface="Open Sans"/>
              </a:rPr>
              <a:t>699,635 synthetic passengers, generated from 129,880 real survey responses [1]</a:t>
            </a:r>
          </a:p>
        </p:txBody>
      </p:sp>
      <p:sp>
        <p:nvSpPr>
          <p:cNvPr name="AutoShape 19" id="19"/>
          <p:cNvSpPr/>
          <p:nvPr/>
        </p:nvSpPr>
        <p:spPr>
          <a:xfrm rot="1800">
            <a:off x="-4762" y="9546203"/>
            <a:ext cx="18297525" cy="0"/>
          </a:xfrm>
          <a:prstGeom prst="line">
            <a:avLst/>
          </a:prstGeom>
          <a:ln cap="rnd" w="9525">
            <a:solidFill>
              <a:srgbClr val="DCDCD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0" y="9270093"/>
            <a:ext cx="18836640" cy="32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[1] Y. Yan, W. Reade, and E. Park, "Predicting Airline Satisfaction," Kaggle Playground Series S6E10, 2026.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0" y="9599496"/>
            <a:ext cx="12773641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[2] J. A. Hanley and B. J. McNeil, "The meaning and use of the area under a receiver operating characteristic (ROC) curve," </a:t>
            </a:r>
            <a:r>
              <a:rPr lang="en-US" sz="1650" i="true">
                <a:solidFill>
                  <a:srgbClr val="56616C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Radiology</a:t>
            </a: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, vol. 143, no. 1, 1982.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0" y="8972913"/>
            <a:ext cx="1083103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Photo: Suhyeon Choi / Unsplash, CC0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0" y="8611668"/>
            <a:ext cx="26141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96924" y="4329479"/>
            <a:ext cx="3941668" cy="4852197"/>
            <a:chOff x="0" y="0"/>
            <a:chExt cx="11142154" cy="13716000"/>
          </a:xfrm>
        </p:grpSpPr>
        <p:sp>
          <p:nvSpPr>
            <p:cNvPr name="Freeform 3" id="3" descr="Passengers with luggage below large airport departures boards"/>
            <p:cNvSpPr/>
            <p:nvPr/>
          </p:nvSpPr>
          <p:spPr>
            <a:xfrm flipH="false" flipV="false" rot="0">
              <a:off x="0" y="0"/>
              <a:ext cx="111421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1142154">
                  <a:moveTo>
                    <a:pt x="0" y="0"/>
                  </a:moveTo>
                  <a:lnTo>
                    <a:pt x="11142154" y="0"/>
                  </a:lnTo>
                  <a:lnTo>
                    <a:pt x="1114215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609" r="0" b="-1860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0" y="-38100"/>
            <a:ext cx="18836640" cy="39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300">
                <a:solidFill>
                  <a:srgbClr val="B84A1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481841"/>
            <a:ext cx="18836640" cy="744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b="true" sz="5400" spc="-75">
                <a:solidFill>
                  <a:srgbClr val="1320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Motivation</a:t>
            </a:r>
          </a:p>
        </p:txBody>
      </p:sp>
      <p:sp>
        <p:nvSpPr>
          <p:cNvPr name="AutoShape 6" id="6"/>
          <p:cNvSpPr/>
          <p:nvPr/>
        </p:nvSpPr>
        <p:spPr>
          <a:xfrm rot="29700">
            <a:off x="-19136" y="1502854"/>
            <a:ext cx="4410294" cy="0"/>
          </a:xfrm>
          <a:prstGeom prst="line">
            <a:avLst/>
          </a:prstGeom>
          <a:ln cap="rnd" w="19050">
            <a:solidFill>
              <a:srgbClr val="E864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0" y="1737446"/>
            <a:ext cx="4503191" cy="544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0"/>
              </a:lnSpc>
            </a:pPr>
            <a:r>
              <a:rPr lang="en-US" sz="3900" b="true">
                <a:solidFill>
                  <a:srgbClr val="1320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5.1 bn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2320347"/>
            <a:ext cx="4503191" cy="67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3D4A57"/>
                </a:solidFill>
                <a:latin typeface="Open Sans"/>
                <a:ea typeface="Open Sans"/>
                <a:cs typeface="Open Sans"/>
                <a:sym typeface="Open Sans"/>
              </a:rPr>
              <a:t>air passengers expected in 2026, with a record 84% of seats filled [3]</a:t>
            </a:r>
          </a:p>
        </p:txBody>
      </p:sp>
      <p:sp>
        <p:nvSpPr>
          <p:cNvPr name="AutoShape 9" id="9"/>
          <p:cNvSpPr/>
          <p:nvPr/>
        </p:nvSpPr>
        <p:spPr>
          <a:xfrm rot="29700">
            <a:off x="4619520" y="1502854"/>
            <a:ext cx="4410294" cy="0"/>
          </a:xfrm>
          <a:prstGeom prst="line">
            <a:avLst/>
          </a:prstGeom>
          <a:ln cap="rnd" w="19050">
            <a:solidFill>
              <a:srgbClr val="E864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4638656" y="1737446"/>
            <a:ext cx="4503191" cy="544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0"/>
              </a:lnSpc>
            </a:pPr>
            <a:r>
              <a:rPr lang="en-US" sz="3900" b="true">
                <a:solidFill>
                  <a:srgbClr val="1320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US$4.5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38656" y="2320347"/>
            <a:ext cx="4503191" cy="67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3D4A57"/>
                </a:solidFill>
                <a:latin typeface="Open Sans"/>
                <a:ea typeface="Open Sans"/>
                <a:cs typeface="Open Sans"/>
                <a:sym typeface="Open Sans"/>
              </a:rPr>
              <a:t>forecast net profit per passenger in 2026, down from US$9.1 [4]</a:t>
            </a:r>
          </a:p>
        </p:txBody>
      </p:sp>
      <p:sp>
        <p:nvSpPr>
          <p:cNvPr name="AutoShape 12" id="12"/>
          <p:cNvSpPr/>
          <p:nvPr/>
        </p:nvSpPr>
        <p:spPr>
          <a:xfrm rot="29700">
            <a:off x="9258186" y="1502854"/>
            <a:ext cx="4410294" cy="0"/>
          </a:xfrm>
          <a:prstGeom prst="line">
            <a:avLst/>
          </a:prstGeom>
          <a:ln cap="rnd" w="19050">
            <a:solidFill>
              <a:srgbClr val="E864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9277312" y="1737446"/>
            <a:ext cx="4503191" cy="544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0"/>
              </a:lnSpc>
            </a:pPr>
            <a:r>
              <a:rPr lang="en-US" sz="3900" b="true">
                <a:solidFill>
                  <a:srgbClr val="1320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76/100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77312" y="2320347"/>
            <a:ext cx="4503191" cy="67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3D4A57"/>
                </a:solidFill>
                <a:latin typeface="Open Sans"/>
                <a:ea typeface="Open Sans"/>
                <a:cs typeface="Open Sans"/>
                <a:sym typeface="Open Sans"/>
              </a:rPr>
              <a:t>US airline satisfaction in 2026; in-flight internet ratings up 20% [5]</a:t>
            </a:r>
          </a:p>
        </p:txBody>
      </p:sp>
      <p:sp>
        <p:nvSpPr>
          <p:cNvPr name="AutoShape 15" id="15"/>
          <p:cNvSpPr/>
          <p:nvPr/>
        </p:nvSpPr>
        <p:spPr>
          <a:xfrm rot="29700">
            <a:off x="13896842" y="1502854"/>
            <a:ext cx="4410294" cy="0"/>
          </a:xfrm>
          <a:prstGeom prst="line">
            <a:avLst/>
          </a:prstGeom>
          <a:ln cap="rnd" w="19050">
            <a:solidFill>
              <a:srgbClr val="E864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3915968" y="1737446"/>
            <a:ext cx="4503191" cy="544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0"/>
              </a:lnSpc>
            </a:pPr>
            <a:r>
              <a:rPr lang="en-US" sz="3900" b="true">
                <a:solidFill>
                  <a:srgbClr val="1320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5–25×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915968" y="2320347"/>
            <a:ext cx="4503191" cy="67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3D4A57"/>
                </a:solidFill>
                <a:latin typeface="Open Sans"/>
                <a:ea typeface="Open Sans"/>
                <a:cs typeface="Open Sans"/>
                <a:sym typeface="Open Sans"/>
              </a:rPr>
              <a:t>more costly to win a new customer than to keep one [6]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0" y="3223041"/>
            <a:ext cx="18836640" cy="44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3202E"/>
                </a:solidFill>
                <a:latin typeface="Open Sans"/>
                <a:ea typeface="Open Sans"/>
                <a:cs typeface="Open Sans"/>
                <a:sym typeface="Open Sans"/>
              </a:rPr>
              <a:t>Satisfied passengers fly again and recommend the airline [7]. On margins this thin, knowing </a:t>
            </a:r>
            <a:r>
              <a:rPr lang="en-US" sz="2100" b="true">
                <a:solidFill>
                  <a:srgbClr val="1320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which service to fix first</a:t>
            </a:r>
            <a:r>
              <a:rPr lang="en-US" sz="2100">
                <a:solidFill>
                  <a:srgbClr val="13202E"/>
                </a:solidFill>
                <a:latin typeface="Open Sans"/>
                <a:ea typeface="Open Sans"/>
                <a:cs typeface="Open Sans"/>
                <a:sym typeface="Open Sans"/>
              </a:rPr>
              <a:t> is worth real money.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0" y="8678018"/>
            <a:ext cx="18836640" cy="32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[3] IATA, "Middle East disruptions and high fuel prices halve airline industry profitability," press release, Jun. 7, 2026.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0" y="9007421"/>
            <a:ext cx="18836640" cy="32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[4] IATA, "Industry statistics fact sheet," Jun. 2026.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0" y="9336824"/>
            <a:ext cx="18836640" cy="32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[5] ACSI, "ACSI Travel Study 2026," press release, Apr. 21, 2026.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0" y="9666237"/>
            <a:ext cx="18836640" cy="32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[6] A. Gallo, "The value of keeping the right customers," </a:t>
            </a:r>
            <a:r>
              <a:rPr lang="en-US" sz="1650" i="true">
                <a:solidFill>
                  <a:srgbClr val="56616C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Harvard Business Review</a:t>
            </a: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, Oct. 29, 2014.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0" y="9995640"/>
            <a:ext cx="18836640" cy="32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[7] M. Kos Koklic, M. Kukar-Kinney, and S. Vegelj, "An investigation of customer satisfaction with low-cost and full-service airline companies," </a:t>
            </a:r>
            <a:r>
              <a:rPr lang="en-US" sz="1650" i="true">
                <a:solidFill>
                  <a:srgbClr val="56616C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J. Bus. Res.</a:t>
            </a: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, vol. 80, 2017.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0" y="8278292"/>
            <a:ext cx="1083103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Photo: Joi Ito, CC BY 2.0, cropped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0" y="7885862"/>
            <a:ext cx="26141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124" y="1181024"/>
            <a:ext cx="16325231" cy="39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300">
                <a:solidFill>
                  <a:srgbClr val="B84A1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LITERATURE REVIEW · 1 OF 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124" y="1700975"/>
            <a:ext cx="11115154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b="true" sz="5400" spc="-75">
                <a:solidFill>
                  <a:srgbClr val="1320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Service Quality and Satisfaction</a:t>
            </a:r>
          </a:p>
        </p:txBody>
      </p:sp>
      <p:sp>
        <p:nvSpPr>
          <p:cNvPr name="AutoShape 4" id="4"/>
          <p:cNvSpPr/>
          <p:nvPr/>
        </p:nvSpPr>
        <p:spPr>
          <a:xfrm rot="40140">
            <a:off x="1204760" y="2717225"/>
            <a:ext cx="2448144" cy="0"/>
          </a:xfrm>
          <a:prstGeom prst="line">
            <a:avLst/>
          </a:prstGeom>
          <a:ln cap="rnd" w="19050">
            <a:solidFill>
              <a:srgbClr val="1320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219124" y="2849794"/>
            <a:ext cx="2495607" cy="39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B84A1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1988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9124" y="3264913"/>
            <a:ext cx="2495607" cy="35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b="true">
                <a:solidFill>
                  <a:srgbClr val="1320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Parasuraman et al.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124" y="3619100"/>
            <a:ext cx="2495607" cy="174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3D4A57"/>
                </a:solidFill>
                <a:latin typeface="Open Sans"/>
                <a:ea typeface="Open Sans"/>
                <a:cs typeface="Open Sans"/>
                <a:sym typeface="Open Sans"/>
              </a:rPr>
              <a:t>Satisfaction tracks the gap between expected and perceived service [8].</a:t>
            </a:r>
          </a:p>
        </p:txBody>
      </p:sp>
      <p:sp>
        <p:nvSpPr>
          <p:cNvPr name="AutoShape 8" id="8"/>
          <p:cNvSpPr/>
          <p:nvPr/>
        </p:nvSpPr>
        <p:spPr>
          <a:xfrm rot="40140">
            <a:off x="3890791" y="2717225"/>
            <a:ext cx="2448239" cy="0"/>
          </a:xfrm>
          <a:prstGeom prst="line">
            <a:avLst/>
          </a:prstGeom>
          <a:ln cap="rnd" w="19050">
            <a:solidFill>
              <a:srgbClr val="1320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3905164" y="2849794"/>
            <a:ext cx="2495693" cy="39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B84A1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05164" y="3264913"/>
            <a:ext cx="2495693" cy="35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b="true">
                <a:solidFill>
                  <a:srgbClr val="1320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Park et al.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05164" y="3619100"/>
            <a:ext cx="2495693" cy="1413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3D4A57"/>
                </a:solidFill>
                <a:latin typeface="Open Sans"/>
                <a:ea typeface="Open Sans"/>
                <a:cs typeface="Open Sans"/>
                <a:sym typeface="Open Sans"/>
              </a:rPr>
              <a:t>Service value and satisfaction drive passengers' future intentions [9].</a:t>
            </a:r>
          </a:p>
        </p:txBody>
      </p:sp>
      <p:sp>
        <p:nvSpPr>
          <p:cNvPr name="AutoShape 12" id="12"/>
          <p:cNvSpPr/>
          <p:nvPr/>
        </p:nvSpPr>
        <p:spPr>
          <a:xfrm rot="40140">
            <a:off x="6576908" y="2717225"/>
            <a:ext cx="2448144" cy="0"/>
          </a:xfrm>
          <a:prstGeom prst="line">
            <a:avLst/>
          </a:prstGeom>
          <a:ln cap="rnd" w="19050">
            <a:solidFill>
              <a:srgbClr val="1320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6591281" y="2849794"/>
            <a:ext cx="2495607" cy="39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B84A1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2008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91281" y="3264913"/>
            <a:ext cx="2495607" cy="35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b="true">
                <a:solidFill>
                  <a:srgbClr val="1320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Chen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91281" y="3619100"/>
            <a:ext cx="2495607" cy="1413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3D4A57"/>
                </a:solidFill>
                <a:latin typeface="Open Sans"/>
                <a:ea typeface="Open Sans"/>
                <a:cs typeface="Open Sans"/>
                <a:sym typeface="Open Sans"/>
              </a:rPr>
              <a:t>Perceived value builds satisfaction, which drives loyalty [10].</a:t>
            </a:r>
          </a:p>
        </p:txBody>
      </p:sp>
      <p:sp>
        <p:nvSpPr>
          <p:cNvPr name="AutoShape 16" id="16"/>
          <p:cNvSpPr/>
          <p:nvPr/>
        </p:nvSpPr>
        <p:spPr>
          <a:xfrm rot="40140">
            <a:off x="9262939" y="2717225"/>
            <a:ext cx="2448239" cy="0"/>
          </a:xfrm>
          <a:prstGeom prst="line">
            <a:avLst/>
          </a:prstGeom>
          <a:ln cap="rnd" w="19050">
            <a:solidFill>
              <a:srgbClr val="1320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9277312" y="2849794"/>
            <a:ext cx="2495693" cy="39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B84A1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2009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77312" y="3264913"/>
            <a:ext cx="2495693" cy="35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b="true">
                <a:solidFill>
                  <a:srgbClr val="1320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 and Noh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77312" y="3619100"/>
            <a:ext cx="2495693" cy="1079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3D4A57"/>
                </a:solidFill>
                <a:latin typeface="Open Sans"/>
                <a:ea typeface="Open Sans"/>
                <a:cs typeface="Open Sans"/>
                <a:sym typeface="Open Sans"/>
              </a:rPr>
              <a:t>What drives satisfaction differs by cabin class [11].</a:t>
            </a:r>
          </a:p>
        </p:txBody>
      </p:sp>
      <p:sp>
        <p:nvSpPr>
          <p:cNvPr name="AutoShape 20" id="20"/>
          <p:cNvSpPr/>
          <p:nvPr/>
        </p:nvSpPr>
        <p:spPr>
          <a:xfrm rot="40140">
            <a:off x="11949065" y="2717225"/>
            <a:ext cx="2448144" cy="0"/>
          </a:xfrm>
          <a:prstGeom prst="line">
            <a:avLst/>
          </a:prstGeom>
          <a:ln cap="rnd" w="19050">
            <a:solidFill>
              <a:srgbClr val="1320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1963438" y="2849794"/>
            <a:ext cx="2495607" cy="39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B84A1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2020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63438" y="3264913"/>
            <a:ext cx="2495607" cy="35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b="true">
                <a:solidFill>
                  <a:srgbClr val="1320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Bellizzi et al.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63438" y="3619100"/>
            <a:ext cx="2495607" cy="1079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3D4A57"/>
                </a:solidFill>
                <a:latin typeface="Open Sans"/>
                <a:ea typeface="Open Sans"/>
                <a:cs typeface="Open Sans"/>
                <a:sym typeface="Open Sans"/>
              </a:rPr>
              <a:t>Review of airline service-quality survey studies [12].</a:t>
            </a:r>
          </a:p>
        </p:txBody>
      </p:sp>
      <p:sp>
        <p:nvSpPr>
          <p:cNvPr name="AutoShape 24" id="24"/>
          <p:cNvSpPr/>
          <p:nvPr/>
        </p:nvSpPr>
        <p:spPr>
          <a:xfrm rot="40140">
            <a:off x="14635096" y="2717225"/>
            <a:ext cx="2448144" cy="0"/>
          </a:xfrm>
          <a:prstGeom prst="line">
            <a:avLst/>
          </a:prstGeom>
          <a:ln cap="rnd" w="19050">
            <a:solidFill>
              <a:srgbClr val="1320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14649469" y="2849794"/>
            <a:ext cx="2495607" cy="39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B84A1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2022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649469" y="3264913"/>
            <a:ext cx="2495607" cy="651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b="true">
                <a:solidFill>
                  <a:srgbClr val="1320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Noviantoro and Huang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649469" y="3916223"/>
            <a:ext cx="2495607" cy="1413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3D4A57"/>
                </a:solidFill>
                <a:latin typeface="Open Sans"/>
                <a:ea typeface="Open Sans"/>
                <a:cs typeface="Open Sans"/>
                <a:sym typeface="Open Sans"/>
              </a:rPr>
              <a:t>Data mining ranks online boarding and Wi-Fi as top levers [13].</a:t>
            </a:r>
          </a:p>
        </p:txBody>
      </p:sp>
      <p:sp>
        <p:nvSpPr>
          <p:cNvPr name="AutoShape 28" id="28"/>
          <p:cNvSpPr/>
          <p:nvPr/>
        </p:nvSpPr>
        <p:spPr>
          <a:xfrm rot="2040">
            <a:off x="1214361" y="6058929"/>
            <a:ext cx="15859268" cy="0"/>
          </a:xfrm>
          <a:prstGeom prst="line">
            <a:avLst/>
          </a:prstGeom>
          <a:ln cap="rnd" w="9525">
            <a:solidFill>
              <a:srgbClr val="DCDCD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219124" y="6178963"/>
            <a:ext cx="7966405" cy="8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[8] A. Parasuraman, V. A. Zeithaml, and L. L. Berry, "SERVQUAL: A multiple-item scale for measuring consumer perceptions of service quality," </a:t>
            </a:r>
            <a:r>
              <a:rPr lang="en-US" sz="1650" i="true">
                <a:solidFill>
                  <a:srgbClr val="56616C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J. Retailing</a:t>
            </a: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, vol. 64, no. 1, 1988.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9124" y="7052996"/>
            <a:ext cx="7966405" cy="8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[9] J.-W. Park, R. Robertson, and C.-L. Wu, "The effect of airline service quality on passengers' behavioural intentions: A Korean case study," </a:t>
            </a:r>
            <a:r>
              <a:rPr lang="en-US" sz="1650" i="true">
                <a:solidFill>
                  <a:srgbClr val="56616C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J. Air Transp. Manag.</a:t>
            </a: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, vol. 10, no. 6, 2004.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9124" y="7927019"/>
            <a:ext cx="7966405" cy="8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[10] C.-F. Chen, "Investigating structural relationships between service quality, perceived value, satisfaction, and behavioral intentions for air passengers: Evidence from Taiwan," </a:t>
            </a:r>
            <a:r>
              <a:rPr lang="en-US" sz="1650" i="true">
                <a:solidFill>
                  <a:srgbClr val="56616C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Transp. Res. A</a:t>
            </a: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, vol. 42, 2008.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334500" y="6178963"/>
            <a:ext cx="7966405" cy="60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[11] M. An and Y. Noh, "Airline customer satisfaction and loyalty: Impact of in-flight service quality," </a:t>
            </a:r>
            <a:r>
              <a:rPr lang="en-US" sz="1650" i="true">
                <a:solidFill>
                  <a:srgbClr val="56616C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Service Business</a:t>
            </a: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, vol. 3, no. 3, 2009.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34500" y="6780686"/>
            <a:ext cx="7966405" cy="60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[12] M. G. Bellizzi, L. Eboli, and G. Mazzulla, "Air transport service quality factors: A systematic literature review," </a:t>
            </a:r>
            <a:r>
              <a:rPr lang="en-US" sz="1650" i="true">
                <a:solidFill>
                  <a:srgbClr val="56616C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Transp. Res. Procedia</a:t>
            </a: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, vol. 45, 2020.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334500" y="7382399"/>
            <a:ext cx="7966405" cy="60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[13] T. Noviantoro and J.-P. Huang, "Investigating airline passenger satisfaction: Data mining method," </a:t>
            </a:r>
            <a:r>
              <a:rPr lang="en-US" sz="1650" i="true">
                <a:solidFill>
                  <a:srgbClr val="56616C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Res. Transp. Bus. Manag.</a:t>
            </a: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, vol. 43, 2022.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9124" y="9328928"/>
            <a:ext cx="3924300" cy="3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124" y="1181033"/>
            <a:ext cx="16325231" cy="39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300">
                <a:solidFill>
                  <a:srgbClr val="B84A1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LITERATURE REVIEW · 2 OF 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124" y="1700975"/>
            <a:ext cx="16325231" cy="744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b="true" sz="5400" spc="-75">
                <a:solidFill>
                  <a:srgbClr val="1320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Machine Learning on This Survey</a:t>
            </a:r>
          </a:p>
        </p:txBody>
      </p:sp>
      <p:sp>
        <p:nvSpPr>
          <p:cNvPr name="AutoShape 4" id="4"/>
          <p:cNvSpPr/>
          <p:nvPr/>
        </p:nvSpPr>
        <p:spPr>
          <a:xfrm rot="4140">
            <a:off x="1209599" y="3149708"/>
            <a:ext cx="15868802" cy="0"/>
          </a:xfrm>
          <a:prstGeom prst="line">
            <a:avLst/>
          </a:prstGeom>
          <a:ln cap="rnd" w="9525">
            <a:solidFill>
              <a:srgbClr val="1320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219124" y="2674363"/>
            <a:ext cx="4120515" cy="39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56616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STUDY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24414" y="2674363"/>
            <a:ext cx="7063740" cy="39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56616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87195" y="2674363"/>
            <a:ext cx="4513136" cy="39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56616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BEST REPORTED</a:t>
            </a:r>
          </a:p>
        </p:txBody>
      </p:sp>
      <p:sp>
        <p:nvSpPr>
          <p:cNvPr name="AutoShape 8" id="8"/>
          <p:cNvSpPr/>
          <p:nvPr/>
        </p:nvSpPr>
        <p:spPr>
          <a:xfrm rot="2040">
            <a:off x="1214361" y="3627930"/>
            <a:ext cx="15859268" cy="0"/>
          </a:xfrm>
          <a:prstGeom prst="line">
            <a:avLst/>
          </a:prstGeom>
          <a:ln cap="rnd" w="9525">
            <a:solidFill>
              <a:srgbClr val="DCDCD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219124" y="3192551"/>
            <a:ext cx="4120515" cy="41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 b="true">
                <a:solidFill>
                  <a:srgbClr val="1320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Jiang et al., 2022 [14]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24414" y="3192551"/>
            <a:ext cx="7063740" cy="41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3D4A57"/>
                </a:solidFill>
                <a:latin typeface="Open Sans"/>
                <a:ea typeface="Open Sans"/>
                <a:cs typeface="Open Sans"/>
                <a:sym typeface="Open Sans"/>
              </a:rPr>
              <a:t>Random forest + feature elimination, LR, KNN, NB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87195" y="3192551"/>
            <a:ext cx="4513136" cy="41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3202E"/>
                </a:solidFill>
                <a:latin typeface="Open Sans"/>
                <a:ea typeface="Open Sans"/>
                <a:cs typeface="Open Sans"/>
                <a:sym typeface="Open Sans"/>
              </a:rPr>
              <a:t>RF: accuracy 0.963</a:t>
            </a:r>
          </a:p>
        </p:txBody>
      </p:sp>
      <p:sp>
        <p:nvSpPr>
          <p:cNvPr name="AutoShape 12" id="12"/>
          <p:cNvSpPr/>
          <p:nvPr/>
        </p:nvSpPr>
        <p:spPr>
          <a:xfrm rot="2040">
            <a:off x="1214361" y="4101379"/>
            <a:ext cx="15859268" cy="0"/>
          </a:xfrm>
          <a:prstGeom prst="line">
            <a:avLst/>
          </a:prstGeom>
          <a:ln cap="rnd" w="9525">
            <a:solidFill>
              <a:srgbClr val="DCDCD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219124" y="3666011"/>
            <a:ext cx="4120515" cy="41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 b="true">
                <a:solidFill>
                  <a:srgbClr val="1320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Zhang, 2024 [15]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24414" y="3666011"/>
            <a:ext cx="7063740" cy="41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3D4A57"/>
                </a:solidFill>
                <a:latin typeface="Open Sans"/>
                <a:ea typeface="Open Sans"/>
                <a:cs typeface="Open Sans"/>
                <a:sym typeface="Open Sans"/>
              </a:rPr>
              <a:t>LR, random forest, AdaBoost, XGBoost + SHAP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87195" y="3666011"/>
            <a:ext cx="4513136" cy="41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3202E"/>
                </a:solidFill>
                <a:latin typeface="Open Sans"/>
                <a:ea typeface="Open Sans"/>
                <a:cs typeface="Open Sans"/>
                <a:sym typeface="Open Sans"/>
              </a:rPr>
              <a:t>XGBoost: AUC 0.987</a:t>
            </a:r>
          </a:p>
        </p:txBody>
      </p:sp>
      <p:sp>
        <p:nvSpPr>
          <p:cNvPr name="AutoShape 16" id="16"/>
          <p:cNvSpPr/>
          <p:nvPr/>
        </p:nvSpPr>
        <p:spPr>
          <a:xfrm rot="2040">
            <a:off x="1214361" y="4574838"/>
            <a:ext cx="15859268" cy="0"/>
          </a:xfrm>
          <a:prstGeom prst="line">
            <a:avLst/>
          </a:prstGeom>
          <a:ln cap="rnd" w="9525">
            <a:solidFill>
              <a:srgbClr val="DCDCD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219124" y="4139460"/>
            <a:ext cx="4120515" cy="41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 b="true">
                <a:solidFill>
                  <a:srgbClr val="1320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Lee, 2024 [16]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24414" y="4139460"/>
            <a:ext cx="7063740" cy="41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3D4A57"/>
                </a:solidFill>
                <a:latin typeface="Open Sans"/>
                <a:ea typeface="Open Sans"/>
                <a:cs typeface="Open Sans"/>
                <a:sym typeface="Open Sans"/>
              </a:rPr>
              <a:t>Bagging, boosting and stacking ensembles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87195" y="4139460"/>
            <a:ext cx="4513136" cy="41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3202E"/>
                </a:solidFill>
                <a:latin typeface="Open Sans"/>
                <a:ea typeface="Open Sans"/>
                <a:cs typeface="Open Sans"/>
                <a:sym typeface="Open Sans"/>
              </a:rPr>
              <a:t>Stacking: accuracy 0.963</a:t>
            </a:r>
          </a:p>
        </p:txBody>
      </p:sp>
      <p:sp>
        <p:nvSpPr>
          <p:cNvPr name="AutoShape 20" id="20"/>
          <p:cNvSpPr/>
          <p:nvPr/>
        </p:nvSpPr>
        <p:spPr>
          <a:xfrm rot="2040">
            <a:off x="1214361" y="5048288"/>
            <a:ext cx="15859268" cy="0"/>
          </a:xfrm>
          <a:prstGeom prst="line">
            <a:avLst/>
          </a:prstGeom>
          <a:ln cap="rnd" w="9525">
            <a:solidFill>
              <a:srgbClr val="DCDCD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219124" y="4612910"/>
            <a:ext cx="4120515" cy="41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 b="true">
                <a:solidFill>
                  <a:srgbClr val="1320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Bilgin, 2025 [17]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524414" y="4612910"/>
            <a:ext cx="7063740" cy="41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3D4A57"/>
                </a:solidFill>
                <a:latin typeface="Open Sans"/>
                <a:ea typeface="Open Sans"/>
                <a:cs typeface="Open Sans"/>
                <a:sym typeface="Open Sans"/>
              </a:rPr>
              <a:t>Gradient-boosted trees vs deep nets (DNN, GRU)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87195" y="4612910"/>
            <a:ext cx="4513136" cy="41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3202E"/>
                </a:solidFill>
                <a:latin typeface="Open Sans"/>
                <a:ea typeface="Open Sans"/>
                <a:cs typeface="Open Sans"/>
                <a:sym typeface="Open Sans"/>
              </a:rPr>
              <a:t>LightGBM and GRU best</a:t>
            </a:r>
          </a:p>
        </p:txBody>
      </p:sp>
      <p:sp>
        <p:nvSpPr>
          <p:cNvPr name="AutoShape 24" id="24"/>
          <p:cNvSpPr/>
          <p:nvPr/>
        </p:nvSpPr>
        <p:spPr>
          <a:xfrm rot="2040">
            <a:off x="1214361" y="5521738"/>
            <a:ext cx="15859268" cy="0"/>
          </a:xfrm>
          <a:prstGeom prst="line">
            <a:avLst/>
          </a:prstGeom>
          <a:ln cap="rnd" w="9525">
            <a:solidFill>
              <a:srgbClr val="DCDCD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1219124" y="5086369"/>
            <a:ext cx="4120515" cy="41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 b="true">
                <a:solidFill>
                  <a:srgbClr val="1320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Hyassat et al., 2026 [18]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524414" y="5086369"/>
            <a:ext cx="7063740" cy="41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3D4A57"/>
                </a:solidFill>
                <a:latin typeface="Open Sans"/>
                <a:ea typeface="Open Sans"/>
                <a:cs typeface="Open Sans"/>
                <a:sym typeface="Open Sans"/>
              </a:rPr>
              <a:t>Gradient-boosted trees with SHAP importance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87195" y="5086369"/>
            <a:ext cx="4513136" cy="41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3202E"/>
                </a:solidFill>
                <a:latin typeface="Open Sans"/>
                <a:ea typeface="Open Sans"/>
                <a:cs typeface="Open Sans"/>
                <a:sym typeface="Open Sans"/>
              </a:rPr>
              <a:t>LightGBM: AUC 0.994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9124" y="5788428"/>
            <a:ext cx="16325231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320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Takeaway:</a:t>
            </a:r>
            <a:r>
              <a:rPr lang="en-US" sz="1950">
                <a:solidFill>
                  <a:srgbClr val="13202E"/>
                </a:solidFill>
                <a:latin typeface="Open Sans"/>
                <a:ea typeface="Open Sans"/>
                <a:cs typeface="Open Sans"/>
                <a:sym typeface="Open Sans"/>
              </a:rPr>
              <a:t> tuned boosted trees reach AUC 0.98–0.99; SHAP studies agree Wi-Fi and online boarding are leading predictors [15], [18].</a:t>
            </a:r>
          </a:p>
        </p:txBody>
      </p:sp>
      <p:sp>
        <p:nvSpPr>
          <p:cNvPr name="AutoShape 29" id="29"/>
          <p:cNvSpPr/>
          <p:nvPr/>
        </p:nvSpPr>
        <p:spPr>
          <a:xfrm rot="2040">
            <a:off x="1214361" y="6875859"/>
            <a:ext cx="15859268" cy="0"/>
          </a:xfrm>
          <a:prstGeom prst="line">
            <a:avLst/>
          </a:prstGeom>
          <a:ln cap="rnd" w="9525">
            <a:solidFill>
              <a:srgbClr val="DCDCD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1219124" y="6995893"/>
            <a:ext cx="7966405" cy="60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[14] X. Jiang, Y. Zhang, Y. Li, and B. Zhang, "Forecast and analysis of aircraft passenger satisfaction based on RF-RFE-LR model," </a:t>
            </a:r>
            <a:r>
              <a:rPr lang="en-US" sz="1650" i="true">
                <a:solidFill>
                  <a:srgbClr val="56616C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Sci. Rep.</a:t>
            </a: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, vol. 12, 2022.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9124" y="7597616"/>
            <a:ext cx="7966405" cy="60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[15] Y. Zhang, "Satisfaction analysis of airline passenger experience," in </a:t>
            </a:r>
            <a:r>
              <a:rPr lang="en-US" sz="1650" i="true">
                <a:solidFill>
                  <a:srgbClr val="56616C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Proc. EMITI</a:t>
            </a: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, 2024, pp. 141–152.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19124" y="8199330"/>
            <a:ext cx="7966405" cy="60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[16] M. Lee, "Comparison of bagging, boosting, and stacking ensemble models for airline customer satisfaction analysis," </a:t>
            </a:r>
            <a:r>
              <a:rPr lang="en-US" sz="1650" i="true">
                <a:solidFill>
                  <a:srgbClr val="56616C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FaST</a:t>
            </a: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, vol. 8, no. 1, 2024.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34500" y="6995893"/>
            <a:ext cx="7966405" cy="60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[17] S. N. Bilgin, "Prediction of airline passenger satisfaction using machine learning and deep learning approaches," in </a:t>
            </a:r>
            <a:r>
              <a:rPr lang="en-US" sz="1650" i="true">
                <a:solidFill>
                  <a:srgbClr val="56616C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Proc. IEEE ASYU</a:t>
            </a: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, 2025.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334500" y="7597616"/>
            <a:ext cx="7966405" cy="8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[18] A. S. Hyassat, M. O. Hiari, and M. M. Abualhaj, "From data to strategy: Explainable AI insights for enhancing airline passenger satisfaction and loyalty," </a:t>
            </a:r>
            <a:r>
              <a:rPr lang="en-US" sz="1650" i="true">
                <a:solidFill>
                  <a:srgbClr val="56616C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J. Artif. Intell. Technol.</a:t>
            </a:r>
            <a:r>
              <a:rPr lang="en-US" sz="165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, vol. 6, 2026.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9124" y="9328928"/>
            <a:ext cx="3924300" cy="3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6616C"/>
                </a:solidFill>
                <a:latin typeface="Open Sans"/>
                <a:ea typeface="Open Sans"/>
                <a:cs typeface="Open Sans"/>
                <a:sym typeface="Open San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DAHXVrdb8zA</dc:identifier>
  <dcterms:modified xsi:type="dcterms:W3CDTF">2011-08-01T06:04:30Z</dcterms:modified>
  <cp:revision>1</cp:revision>
  <dc:title>Cleared for Satisfaction.pptx</dc:title>
</cp:coreProperties>
</file>